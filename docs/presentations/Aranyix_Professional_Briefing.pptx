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ARANYIX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C8E6D5"/>
                </a:solidFill>
                <a:latin typeface="Calibri"/>
              </a:rPr>
              <a:t>Operating system for Indian plantation programs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A8D5BC"/>
                </a:solidFill>
                <a:latin typeface="Calibri"/>
              </a:rPr>
              <a:t>Field proof  ·  Satellite intelligence  ·  Credit-ready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D2B1F"/>
                </a:solidFill>
                <a:latin typeface="Calibri"/>
              </a:rPr>
              <a:t>Investor &amp; Partner Briefing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C6B63"/>
                </a:solidFill>
                <a:latin typeface="Calibri"/>
              </a:rPr>
              <a:t>aranyix.tech  ·  India-first MRV &amp; field operations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Aranyix  ·  Confidential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640080" cy="502920"/>
          </a:xfrm>
          <a:prstGeom prst="round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80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The problem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Calibri"/>
              </a:rPr>
              <a:t>Why plantation programs fail to prove impact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640080" cy="502920"/>
          </a:xfrm>
          <a:prstGeom prst="round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391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65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The opportunity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Calibri"/>
              </a:rPr>
              <a:t>India’s green economy &amp; MRV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640080" cy="502920"/>
          </a:xfrm>
          <a:prstGeom prst="round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517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Solution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Calibri"/>
              </a:rPr>
              <a:t>Aranyix product stack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640080" cy="502920"/>
          </a:xfrm>
          <a:prstGeom prst="round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107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375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How it works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Calibri"/>
              </a:rPr>
              <a:t>Field → Satellite → Credits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640080" cy="502920"/>
          </a:xfrm>
          <a:prstGeom prst="round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965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23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Market &amp; competition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Calibri"/>
              </a:rPr>
              <a:t>Where we win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09160"/>
            <a:ext cx="640080" cy="502920"/>
          </a:xfrm>
          <a:prstGeom prst="round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823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09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Business model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Calibri"/>
              </a:rPr>
              <a:t>Who pays and why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94960"/>
            <a:ext cx="640080" cy="502920"/>
          </a:xfrm>
          <a:prstGeom prst="round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681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394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Traction path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Calibri"/>
              </a:rPr>
              <a:t>Roadmap &amp; 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Aranyix  ·  Confidential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problem: planting without 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94960" cy="201168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" cy="201168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B5E3B"/>
                </a:solidFill>
                <a:latin typeface="Calibri"/>
              </a:rPr>
              <a:t>Paper &amp; WhatsApp ops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C6B63"/>
                </a:solidFill>
                <a:latin typeface="Calibri"/>
              </a:rPr>
              <a:t>Field teams still run on spreadsheets, photos in chats, and unverifiable survival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201168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109728" cy="201168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B5E3B"/>
                </a:solidFill>
                <a:latin typeface="Calibri"/>
              </a:rPr>
              <a:t>Vanishing trees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C6B63"/>
                </a:solidFill>
                <a:latin typeface="Calibri"/>
              </a:rPr>
              <a:t>Survival rates collapse after planting season — with no continuous monitoring loop.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5394960" cy="201168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109728" cy="201168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B5E3B"/>
                </a:solidFill>
                <a:latin typeface="Calibri"/>
              </a:rPr>
              <a:t>Untrusted carbon claims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C6B63"/>
                </a:solidFill>
                <a:latin typeface="Calibri"/>
              </a:rPr>
              <a:t>Estimates sold as verified credits. Buyers and auditors reject weak evidence chains.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57600"/>
            <a:ext cx="5394960" cy="201168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657600"/>
            <a:ext cx="109728" cy="201168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977639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B5E3B"/>
                </a:solidFill>
                <a:latin typeface="Calibri"/>
              </a:rPr>
              <a:t>Fragmented stack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C6B63"/>
                </a:solidFill>
                <a:latin typeface="Calibri"/>
              </a:rPr>
              <a:t>GIS, field apps, satellite, and reporting live in silos. No single source of truth.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Aranyix  ·  Confidential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opportunity: India-first green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438912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B5E3B"/>
                </a:solidFill>
                <a:latin typeface="Calibri"/>
              </a:rPr>
              <a:t>₹ / 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Green India &amp;
CSR / ESG spend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Large, recurring budgets for plantations, biodiversity, and climate disclosure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438912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B5E3B"/>
                </a:solidFill>
                <a:latin typeface="Calibri"/>
              </a:rPr>
              <a:t>MRV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7432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Evidence gap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Programs need continuous, auditable proof — not annual photo dumps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566160" cy="438912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45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B5E3B"/>
                </a:solidFill>
                <a:latin typeface="Calibri"/>
              </a:rPr>
              <a:t>AI+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Tech inflection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Phones + satellite + AI make tree-level MRV finally affordable at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Aranyix  ·  Confidential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Aranyix: one platform from soil to credit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63"/>
                </a:solidFill>
                <a:latin typeface="Calibri"/>
              </a:rPr>
              <a:t>We are the operating system for plantation programs — not another carbon marketplace.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11247120" cy="914400"/>
          </a:xfrm>
          <a:prstGeom prst="round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01  Field Ops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Mobile registration, geotags, photos, survival checks, offline-ready workflows for foresters &amp; NGOs.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71800"/>
            <a:ext cx="11247120" cy="91440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02  Satellite MRV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NDVI / health layers, alerts, portfolio views — continuous monitoring beyond the planting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11247120" cy="914400"/>
          </a:xfrm>
          <a:prstGeom prst="round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03  Biodiversity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Bioacoustics &amp; ecological signals that strengthen ESG narratives beyond trees planted.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74920"/>
            <a:ext cx="11247120" cy="91440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04  Credit-ready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Honest Live vs Estimate labels, evidence packs, chain-of-custody for auditors &amp; buyers.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Aranyix  ·  Confidential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Product surface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657600" cy="210312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B5E3B"/>
                </a:solidFill>
                <a:latin typeface="Calibri"/>
              </a:rPr>
              <a:t>Web dashboard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Executive KPIs, maps, portfolio health, program enrollment, compliance workflows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3657600" cy="210312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B5E3B"/>
                </a:solidFill>
                <a:latin typeface="Calibri"/>
              </a:rPr>
              <a:t>Field mobile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Flutter app for register / inspect / sync — built for low connectivity sites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325880"/>
            <a:ext cx="3657600" cy="210312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6916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B5E3B"/>
                </a:solidFill>
                <a:latin typeface="Calibri"/>
              </a:rPr>
              <a:t>AI layer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Tree image intelligence, health scoring, anomaly flags (metered)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703320"/>
            <a:ext cx="3657600" cy="210312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B5E3B"/>
                </a:solidFill>
                <a:latin typeface="Calibri"/>
              </a:rPr>
              <a:t>Impact pages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Public shareable project pages for CSR / donor storytelling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703320"/>
            <a:ext cx="3657600" cy="210312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0690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B5E3B"/>
                </a:solidFill>
                <a:latin typeface="Calibri"/>
              </a:rPr>
              <a:t>Admin &amp; CMS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Roles, orgs, content, platform controls for multi-tenant scale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3703320"/>
            <a:ext cx="3657600" cy="210312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40690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B5E3B"/>
                </a:solidFill>
                <a:latin typeface="Calibri"/>
              </a:rPr>
              <a:t>APIs &amp; evidence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Audit trails, exports, credit ledger foundations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Aranyix  ·  Confidential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651760" cy="365760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103120"/>
            <a:ext cx="914400" cy="914400"/>
          </a:xfrm>
          <a:prstGeom prst="ellipse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2860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Plant &amp;
register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Calibri"/>
              </a:rPr>
              <a:t>Capture tree, GPS, species, photo on 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B5E3B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651760" cy="365760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51960" y="2103120"/>
            <a:ext cx="914400" cy="914400"/>
          </a:xfrm>
          <a:prstGeom prst="ellipse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2860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Monitor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Calibri"/>
              </a:rPr>
              <a:t>Survival visits + satellite NDVI /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B5E3B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28800"/>
            <a:ext cx="2651760" cy="365760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78040" y="2103120"/>
            <a:ext cx="914400" cy="914400"/>
          </a:xfrm>
          <a:prstGeom prst="ellipse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2860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Verify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Calibri"/>
              </a:rPr>
              <a:t>Evidence pack: Live vs Estimate, chain of custody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B5E3B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828800"/>
            <a:ext cx="2651760" cy="365760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04120" y="2103120"/>
            <a:ext cx="914400" cy="914400"/>
          </a:xfrm>
          <a:prstGeom prst="ellipse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22860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Report &amp;
finance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Calibri"/>
              </a:rPr>
              <a:t>CSR / ESG packs → credit-ready pathways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Aranyix  ·  Confidential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Why Aranyix wins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657600" cy="210312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India-native ops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E6D5"/>
                </a:solidFill>
                <a:latin typeface="Calibri"/>
              </a:rPr>
              <a:t>Built for Indian field reality: languages of work, connectivity, NGO + gov + CSR buyers.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3657600" cy="210312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B5E3B"/>
                </a:solidFill>
                <a:latin typeface="Calibri"/>
              </a:rPr>
              <a:t>Honest MRV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Never confuse Estimate with Live. Trust labels protect buyers and brand.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325880"/>
            <a:ext cx="3657600" cy="210312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6916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B5E3B"/>
                </a:solidFill>
                <a:latin typeface="Calibri"/>
              </a:rPr>
              <a:t>Full stack OS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Field + satellite + biodiversity + compliance — not a single-point gadget.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703320"/>
            <a:ext cx="3657600" cy="210312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B5E3B"/>
                </a:solidFill>
                <a:latin typeface="Calibri"/>
              </a:rPr>
              <a:t>Program-shaped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Enrollment, roles, portfolios, impact pages — matches how real programs run.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703320"/>
            <a:ext cx="3657600" cy="210312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0690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B5E3B"/>
                </a:solidFill>
                <a:latin typeface="Calibri"/>
              </a:rPr>
              <a:t>Audit-minded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Evidence, exports, ledger foundations aimed at eventual registry pathways.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3703320"/>
            <a:ext cx="3657600" cy="210312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40690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B5E3B"/>
                </a:solidFill>
                <a:latin typeface="Calibri"/>
              </a:rPr>
              <a:t>Speed to value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Teams see maps, survival, and health without a 6-month systems project.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Aranyix  ·  Confidential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194560" cy="50292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280160"/>
            <a:ext cx="2194560" cy="50292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Tree apps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280160"/>
            <a:ext cx="2194560" cy="50292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Carbon MRV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280160"/>
            <a:ext cx="2194560" cy="50292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Satellite GIS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280160"/>
            <a:ext cx="2194560" cy="50292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Aranyix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28800"/>
            <a:ext cx="2194560" cy="5943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Field tree 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828800"/>
            <a:ext cx="2194560" cy="5943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828800"/>
            <a:ext cx="2194560" cy="5943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1828800"/>
            <a:ext cx="2194560" cy="5943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828800"/>
            <a:ext cx="2194560" cy="59436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B5E3B"/>
                </a:solidFill>
                <a:latin typeface="Calibri"/>
              </a:rPr>
              <a:t>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468880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India program fit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468880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468880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2468880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2468880"/>
            <a:ext cx="2194560" cy="59436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B5E3B"/>
                </a:solidFill>
                <a:latin typeface="Calibri"/>
              </a:rPr>
              <a:t>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108960"/>
            <a:ext cx="2194560" cy="5943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Satellite health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108960"/>
            <a:ext cx="2194560" cy="5943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3108960"/>
            <a:ext cx="2194560" cy="5943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3108960"/>
            <a:ext cx="2194560" cy="5943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60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3108960"/>
            <a:ext cx="2194560" cy="59436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B5E3B"/>
                </a:solidFill>
                <a:latin typeface="Calibri"/>
              </a:rPr>
              <a:t>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749039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886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Biodiversity signal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3749039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51760" y="3886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3749039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37760" y="3886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3749039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60" y="3886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3749039"/>
            <a:ext cx="2194560" cy="59436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0" y="3886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B5E3B"/>
                </a:solidFill>
                <a:latin typeface="Calibri"/>
              </a:rPr>
              <a:t>◐→●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389120"/>
            <a:ext cx="2194560" cy="5943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4526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Credit-ready evidence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1760" y="4389120"/>
            <a:ext cx="2194560" cy="5943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51760" y="4526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7760" y="4389120"/>
            <a:ext cx="2194560" cy="5943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37760" y="4526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23760" y="4389120"/>
            <a:ext cx="2194560" cy="5943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23760" y="4526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9760" y="4389120"/>
            <a:ext cx="2194560" cy="59436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9760" y="4526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B5E3B"/>
                </a:solidFill>
                <a:latin typeface="Calibri"/>
              </a:rPr>
              <a:t>◐→●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5029200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5166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Honest Live/Estimate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5029200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51760" y="5166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○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37760" y="5029200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37760" y="5166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◐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23760" y="5029200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23760" y="5166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○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09760" y="5029200"/>
            <a:ext cx="2194560" cy="59436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09760" y="5166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B5E3B"/>
                </a:solidFill>
                <a:latin typeface="Calibri"/>
              </a:rPr>
              <a:t>●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C6B63"/>
                </a:solidFill>
                <a:latin typeface="Calibri"/>
              </a:rPr>
              <a:t>● strong   ◐ partial   ○ weak — positioning: OS for Indian plantation programs, not a Western carbon marketplace clone.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Aranyix  ·  Confidential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77724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SaaS seats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463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C6B63"/>
                </a:solidFill>
                <a:latin typeface="Calibri"/>
              </a:rPr>
              <a:t>Org / program subscriptions for NGOs, corporates, implementers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11247120" cy="777240"/>
          </a:xfrm>
          <a:prstGeom prst="round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Program packs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C6B63"/>
                </a:solidFill>
                <a:latin typeface="Calibri"/>
              </a:rPr>
              <a:t>Per-hectare or per-tree monitoring packages for CSR campaigns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11247120" cy="77724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AI metering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C6B63"/>
                </a:solidFill>
                <a:latin typeface="Calibri"/>
              </a:rPr>
              <a:t>Usage-based scan / vision credits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11247120" cy="777240"/>
          </a:xfrm>
          <a:prstGeom prst="round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Premium MRV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C6B63"/>
                </a:solidFill>
                <a:latin typeface="Calibri"/>
              </a:rPr>
              <a:t>Satellite + compliance + evidence packs for auditors / buyers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11247120" cy="77724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Future: markets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C6B63"/>
                </a:solidFill>
                <a:latin typeface="Calibri"/>
              </a:rPr>
              <a:t>Registry connectors / credit facilitation (after trust is proven)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Aranyix  ·  Confidential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Who we sell 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94960" cy="201168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94960" cy="109728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B5E3B"/>
                </a:solidFill>
                <a:latin typeface="Calibri"/>
              </a:rPr>
              <a:t>Corporate CSR / ESG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C6B63"/>
                </a:solidFill>
                <a:latin typeface="Calibri"/>
              </a:rPr>
              <a:t>Need credible plantation outcomes for board, BRSR, and brand — not photo albums.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201168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94960" cy="109728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B5E3B"/>
                </a:solidFill>
                <a:latin typeface="Calibri"/>
              </a:rPr>
              <a:t>Implementing NGOs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C6B63"/>
                </a:solidFill>
                <a:latin typeface="Calibri"/>
              </a:rPr>
              <a:t>Need field discipline, donor reporting, and multi-site visibility.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5394960" cy="201168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394960" cy="109728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B5E3B"/>
                </a:solidFill>
                <a:latin typeface="Calibri"/>
              </a:rPr>
              <a:t>Afforestation operators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C6B63"/>
                </a:solidFill>
                <a:latin typeface="Calibri"/>
              </a:rPr>
              <a:t>Need survival ops, crew accountability, and satellite oversight.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57600"/>
            <a:ext cx="5394960" cy="201168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657600"/>
            <a:ext cx="5394960" cy="109728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B5E3B"/>
                </a:solidFill>
                <a:latin typeface="Calibri"/>
              </a:rPr>
              <a:t>Climate / carbon teams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C6B63"/>
                </a:solidFill>
                <a:latin typeface="Calibri"/>
              </a:rPr>
              <a:t>Need evidence chains before touching registries or buyers.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Aranyix  ·  Confidential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2148840" cy="402336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4A35A"/>
                </a:solidFill>
                <a:latin typeface="Calibri"/>
              </a:rPr>
              <a:t>Phase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18745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Stabilize &amp;
trust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C8E6D5"/>
                </a:solidFill>
                <a:latin typeface="Calibri"/>
              </a:rPr>
              <a:t>Uptime, auth, honest labels, core field loops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645920"/>
            <a:ext cx="2148840" cy="402336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19202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4A35A"/>
                </a:solidFill>
                <a:latin typeface="Calibri"/>
              </a:rPr>
              <a:t>Phase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468880"/>
            <a:ext cx="18745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MRV
credibility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C8E6D5"/>
                </a:solidFill>
                <a:latin typeface="Calibri"/>
              </a:rPr>
              <a:t>Evidence packs, satellite depth, audit exports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45920"/>
            <a:ext cx="2148840" cy="402336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9202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4A35A"/>
                </a:solidFill>
                <a:latin typeface="Calibri"/>
              </a:rPr>
              <a:t>Phase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468880"/>
            <a:ext cx="18745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Scale UX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C8E6D5"/>
                </a:solidFill>
                <a:latin typeface="Calibri"/>
              </a:rPr>
              <a:t>Maps, portfolios, onboarding, public impact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19" y="1645920"/>
            <a:ext cx="2148840" cy="402336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19202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Phase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468880"/>
            <a:ext cx="18745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Bio &amp;
ESG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Calibri"/>
              </a:rPr>
              <a:t>Biodiversity, frameworks, richer reporting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645920"/>
            <a:ext cx="2148840" cy="402336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19202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Phase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468880"/>
            <a:ext cx="18745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Markets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Calibri"/>
              </a:rPr>
              <a:t>Registry paths, credit facilitation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Aranyix  ·  Confidential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Vision &amp; 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B5E3B"/>
                </a:solidFill>
                <a:latin typeface="Calibri"/>
              </a:rPr>
              <a:t>Make every Indian plantation program measurable,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1B5E3B"/>
                </a:solidFill>
                <a:latin typeface="Calibri"/>
              </a:rPr>
              <a:t>honest, and finance-ready.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11247120" cy="86868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109728" cy="86868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Pilot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Run a 1–3 site CSR / NGO pilot with survival + satellite + impact page in 30–60 days.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11247120" cy="86868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109728" cy="86868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Design partners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Co-build evidence packs with 2–3 serious implementers.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11247120" cy="86868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937760"/>
            <a:ext cx="109728" cy="86868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5E3B"/>
                </a:solidFill>
                <a:latin typeface="Calibri"/>
              </a:rPr>
              <a:t>Capital / advisors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Calibri"/>
              </a:rPr>
              <a:t>Accelerate MRV depth, field coverage, and go-to-market.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Calibri"/>
              </a:rPr>
              <a:t>Aranyix  ·  Confidential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ARANYIX</a:t>
            </a:r>
          </a:p>
          <a:p>
            <a:pPr algn="ctr">
              <a:spcAft>
                <a:spcPts val="1600"/>
              </a:spcAft>
            </a:pPr>
            <a:r>
              <a:rPr sz="2200" b="0">
                <a:solidFill>
                  <a:srgbClr val="C8E6D5"/>
                </a:solidFill>
                <a:latin typeface="Calibri"/>
              </a:rPr>
              <a:t>Plant. Prove. Protect.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C4A35A"/>
                </a:solidFill>
                <a:latin typeface="Calibri"/>
              </a:rPr>
              <a:t>aranyix.tech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A8D5BC"/>
                </a:solidFill>
                <a:latin typeface="Calibri"/>
              </a:rPr>
              <a:t>India-first plantation MRV &amp; field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C8E6D5"/>
                </a:solidFill>
                <a:latin typeface="Calibri"/>
              </a:rPr>
              <a:t>Thank you  ·  Let’s build the proof layer for India’s green canopy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